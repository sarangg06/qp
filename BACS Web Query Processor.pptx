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85" autoAdjust="0"/>
    <p:restoredTop sz="94660"/>
  </p:normalViewPr>
  <p:slideViewPr>
    <p:cSldViewPr snapToGrid="0">
      <p:cViewPr varScale="1">
        <p:scale>
          <a:sx n="84" d="100"/>
          <a:sy n="84" d="100"/>
        </p:scale>
        <p:origin x="7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66672-D967-01CB-7018-77B333355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524F4-BD29-BB70-9AAD-707DEEC2B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9AFDD-DBED-FA98-B40B-4FAD78D24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716F-2C35-4742-BA3B-508D3E1C4DB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D08C9-3289-25E8-D1D7-FE694AC4E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34409-75E8-57FC-6ED3-029EC9641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ACCAE-5AE8-432F-9C15-ED30CFA40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194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141F-B2C0-713C-FADA-7330B9612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E1E11-2F2C-6F02-3F26-1A9B91ED5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7E610-5B0A-EEC2-8967-F74DA5AC6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716F-2C35-4742-BA3B-508D3E1C4DB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6E64D-B3B8-15F9-FB06-C25E9C08E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79DD0-FEDA-0FBD-E90E-38D0A7178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ACCAE-5AE8-432F-9C15-ED30CFA40BC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8074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D7815-14D2-C192-CB93-A63E6842F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019B4-4D2E-6BDE-7F21-564F98973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77D11-2417-DBC2-142E-1563709B6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716F-2C35-4742-BA3B-508D3E1C4DB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F9AE7-38E9-42A7-E82B-F3AA1E02D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485D6-DE81-0535-12C7-F0F11EC9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ACCAE-5AE8-432F-9C15-ED30CFA40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486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D584E-D16C-FB32-578A-03B048BC9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6B5BB-AB52-4846-8EAC-FD6EED84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75B4DB-A670-4BB9-3087-A94AA8527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66EF4-E462-224B-F292-E75B9F77A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716F-2C35-4742-BA3B-508D3E1C4DB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702E33-59EA-ACEA-580C-0783C66F4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262C1-5124-3019-7F3C-3BA97CF5B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ACCAE-5AE8-432F-9C15-ED30CFA40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646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3EB08-E74A-E94C-5A7D-831197CF4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1AE90-F2DB-95B1-44FF-F355C2F77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9A6158-40D6-0DF5-9F21-699E2B658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37AB6-A1DD-4D62-9211-D6D57675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51E6FA-7906-E948-0C7E-C6A3297E11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51FE58-2DB3-80EC-95D7-4D7CE89F7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716F-2C35-4742-BA3B-508D3E1C4DB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B59AC8-3175-0F7F-D67C-9B90806BC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0FEFB8-8ACB-1E59-C35A-8AF382739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ACCAE-5AE8-432F-9C15-ED30CFA40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340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F91E9-CC19-A9DE-1FD0-293E4468C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5CE510-766E-87CD-3B1B-92EB6B41B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716F-2C35-4742-BA3B-508D3E1C4DB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407DC-502E-35CE-6BA6-C808E0AB1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4697F2-41A6-D6C6-9DF9-114CAF515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ACCAE-5AE8-432F-9C15-ED30CFA40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039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3C2E9B-AB0D-2820-90C8-E3ADC4E0E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716F-2C35-4742-BA3B-508D3E1C4DB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70ABB5-0EFB-C94B-64E7-F45D603D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474FF-17E6-0550-5734-FE1DE2455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ACCAE-5AE8-432F-9C15-ED30CFA40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838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78029-29D3-63D2-859F-310732CC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B42B6-0D83-3EBE-A6B2-7B15C2E2C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B3985D-69C0-E741-C5BB-D72ACA752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46D69-35D7-1B59-AEAE-AF24CE408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716F-2C35-4742-BA3B-508D3E1C4DB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B1E48-8150-65BB-2660-84CF1EA60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4E90D6-D96B-2F26-BF6E-0CC262000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ACCAE-5AE8-432F-9C15-ED30CFA40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187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E11D4-B5BF-C732-BAE2-0BE4A7A5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C2E54-D4BF-2703-CCD7-87D17B8084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B26541-6A65-1830-6C1E-3AAE28F15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0DFBD-720E-1295-2D56-B27F9E14D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716F-2C35-4742-BA3B-508D3E1C4DB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BEFCD-F776-BFD6-B273-8012203F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6D600-5D5C-7642-0878-285D3DB77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ACCAE-5AE8-432F-9C15-ED30CFA40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123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1AC91-DDB8-6468-4FF3-62A32CBA7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6774B2-2634-E987-8277-603736EA3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FCC2-0E8B-A2CF-6208-B3855D644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716F-2C35-4742-BA3B-508D3E1C4DB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94CB7-ACD0-D9C0-FCF4-EC3EECBC4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B4235-C251-8E51-240F-BE4B3DD6A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ACCAE-5AE8-432F-9C15-ED30CFA40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04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A8ECA9-E84B-6C17-83F8-C40CB39C6C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016DF-B8EA-A496-8D1B-BE4A36205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81D91-A03B-BEE5-81DB-DEED3B274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716F-2C35-4742-BA3B-508D3E1C4DB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163EE-A026-BB46-E6CF-48C4AF028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55A5F-1630-1745-C15E-555E9F9C9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ACCAE-5AE8-432F-9C15-ED30CFA40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374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84E9E-F6C8-50E8-34AD-FBF894852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A93EF-BD04-832B-A7CE-9561C589B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C30CA-C3D6-21F7-CB00-266ED36177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0716F-2C35-4742-BA3B-508D3E1C4DBC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80997-E2AB-3F9A-4C8B-6327F60D1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4B0A3-52D9-A899-93BA-AA1D1CECB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ACCAE-5AE8-432F-9C15-ED30CFA40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382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E97E1-14E5-F84D-3B3A-C06BE05C2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5504" y="1122364"/>
            <a:ext cx="9460992" cy="2387600"/>
          </a:xfrm>
        </p:spPr>
        <p:txBody>
          <a:bodyPr anchor="ctr"/>
          <a:lstStyle/>
          <a:p>
            <a:r>
              <a:rPr lang="en-IN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BACS Web Query Processor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6C033-3C19-EC77-4D17-1ECFDE41A0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IN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 project by</a:t>
            </a:r>
          </a:p>
          <a:p>
            <a:r>
              <a:rPr lang="en-IN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Ravi Kumar &amp; Sarang Deshpande</a:t>
            </a:r>
          </a:p>
        </p:txBody>
      </p:sp>
    </p:spTree>
    <p:extLst>
      <p:ext uri="{BB962C8B-B14F-4D97-AF65-F5344CB8AC3E}">
        <p14:creationId xmlns:p14="http://schemas.microsoft.com/office/powerpoint/2010/main" val="1039421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2A2C8-0F24-9B03-FFEC-8F4E92FA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BACSWQP – Project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31A91E-E4AA-EDBE-907C-28549E88BBB7}"/>
              </a:ext>
            </a:extLst>
          </p:cNvPr>
          <p:cNvSpPr txBox="1"/>
          <p:nvPr/>
        </p:nvSpPr>
        <p:spPr>
          <a:xfrm>
            <a:off x="838200" y="1997839"/>
            <a:ext cx="10515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BACSWQP is an AI-powered web application that enables authorized users to retrieve data from the Biometric Access Controller System (BACS) database using natural language queries.</a:t>
            </a:r>
          </a:p>
          <a:p>
            <a:endParaRPr lang="en-US" dirty="0"/>
          </a:p>
          <a:p>
            <a:r>
              <a:rPr lang="en-US" dirty="0"/>
              <a:t>Instead of writing SQL queries, users simply type questions in plain English, and the system automatically: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Converts the question into 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Executes it on Microsoft SQL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Returns a clear, human-readable 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Exports large datasets to Excel when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The system operates entirely on the internal campus network with no internet dependency.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30212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673FA-3821-56C9-A50B-4CD3975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&amp; Solution</a:t>
            </a:r>
            <a:endParaRPr lang="en-IN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E4CFB1-A360-D56F-25C8-AD26530FBE4F}"/>
              </a:ext>
            </a:extLst>
          </p:cNvPr>
          <p:cNvSpPr txBox="1"/>
          <p:nvPr/>
        </p:nvSpPr>
        <p:spPr>
          <a:xfrm>
            <a:off x="838200" y="1767007"/>
            <a:ext cx="105156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Problem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Many users require frequent access to BACS data for many reasons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But most users lack SQL knowledge required to access this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Giving direct database access to users creates security risks</a:t>
            </a:r>
          </a:p>
          <a:p>
            <a:endParaRPr lang="en-US" dirty="0"/>
          </a:p>
          <a:p>
            <a:r>
              <a:rPr lang="en-US" sz="2400" b="1" dirty="0"/>
              <a:t>The Solution</a:t>
            </a:r>
          </a:p>
          <a:p>
            <a:r>
              <a:rPr lang="en-US" dirty="0"/>
              <a:t>BACSWQP introduces an intelligent AI query layer that: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Eliminates SQL knowledge requirement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Enforces strict domain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Allows read-only, secure access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Maintains full logging about</a:t>
            </a:r>
          </a:p>
        </p:txBody>
      </p:sp>
    </p:spTree>
    <p:extLst>
      <p:ext uri="{BB962C8B-B14F-4D97-AF65-F5344CB8AC3E}">
        <p14:creationId xmlns:p14="http://schemas.microsoft.com/office/powerpoint/2010/main" val="138489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B7848-C902-D1A6-DCA2-6B0CEB1DD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 &amp; Technology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87F2E4-70AD-BC01-DA6A-A794F410FA4F}"/>
              </a:ext>
            </a:extLst>
          </p:cNvPr>
          <p:cNvSpPr txBox="1"/>
          <p:nvPr/>
        </p:nvSpPr>
        <p:spPr>
          <a:xfrm>
            <a:off x="838200" y="1690690"/>
            <a:ext cx="4303777" cy="212365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IN" sz="2400" b="1" dirty="0"/>
              <a:t>Architecture Overview</a:t>
            </a:r>
          </a:p>
          <a:p>
            <a:r>
              <a:rPr lang="en-IN" dirty="0"/>
              <a:t>The system consists of: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Web Frontend (HTML, CSS, JavaScript)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FastAPI Backend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Query Processing Engine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Microsoft SQL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Two locally deployed AI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3DCB81-EE19-AE8B-C30F-7981B6C582DA}"/>
              </a:ext>
            </a:extLst>
          </p:cNvPr>
          <p:cNvSpPr txBox="1"/>
          <p:nvPr/>
        </p:nvSpPr>
        <p:spPr>
          <a:xfrm>
            <a:off x="5556505" y="1690690"/>
            <a:ext cx="5797295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Technology Stack</a:t>
            </a:r>
          </a:p>
          <a:p>
            <a:r>
              <a:rPr lang="en-IN" sz="2000" b="1" dirty="0"/>
              <a:t>Backend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Python 3.x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FastAPI &amp; Uvicorn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Pyodbc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Pandas</a:t>
            </a:r>
          </a:p>
          <a:p>
            <a:r>
              <a:rPr lang="en-IN" sz="2000" b="1" dirty="0"/>
              <a:t>AI Inference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Llama.cpp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GGUF quantized models</a:t>
            </a:r>
          </a:p>
          <a:p>
            <a:endParaRPr lang="en-IN" dirty="0"/>
          </a:p>
          <a:p>
            <a:r>
              <a:rPr lang="en-IN" dirty="0"/>
              <a:t>The application runs on a GPU-enabled server for optimized AI inference.</a:t>
            </a:r>
          </a:p>
        </p:txBody>
      </p:sp>
    </p:spTree>
    <p:extLst>
      <p:ext uri="{BB962C8B-B14F-4D97-AF65-F5344CB8AC3E}">
        <p14:creationId xmlns:p14="http://schemas.microsoft.com/office/powerpoint/2010/main" val="1878279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1BD7B-13CA-95FF-4E0F-D0C6FA81A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Model Strategy &amp; Optimization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CE6CE2-6B2E-DEA2-B6A6-9553D771656C}"/>
              </a:ext>
            </a:extLst>
          </p:cNvPr>
          <p:cNvSpPr txBox="1"/>
          <p:nvPr/>
        </p:nvSpPr>
        <p:spPr>
          <a:xfrm>
            <a:off x="838200" y="1689740"/>
            <a:ext cx="580934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Dual-Model Design</a:t>
            </a:r>
          </a:p>
          <a:p>
            <a:r>
              <a:rPr lang="en-IN" b="1" dirty="0"/>
              <a:t>SQL Generation Model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Llama 3.2 8B Custom Fine-Tuned (GGUF)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Converts natural language into optimized SQL</a:t>
            </a:r>
          </a:p>
          <a:p>
            <a:r>
              <a:rPr lang="en-IN" b="1" dirty="0"/>
              <a:t>Response Generation Model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DeepSeek R1 Distill (GGUF)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Converts SQL results into human-readable explanation</a:t>
            </a:r>
          </a:p>
          <a:p>
            <a:endParaRPr lang="en-IN" sz="2400" b="1" dirty="0"/>
          </a:p>
          <a:p>
            <a:r>
              <a:rPr lang="en-IN" sz="2400" b="1" dirty="0"/>
              <a:t>Model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Original fine-tuned model size: ~30 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Reduced to ~14 GB (16-bit)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Final deployment size: ~4 GB (4-5 bit GGUF)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enables both models to run within 12 GB GPU memory.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DBA80F-1F49-4B91-7931-107FC449D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800" y="119062"/>
            <a:ext cx="2286000" cy="661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54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6D4F-C724-0FA7-75F1-923323238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 Dataset &amp; Training Effort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4B22F6-2F88-7260-C2C9-410B16BDB9E1}"/>
              </a:ext>
            </a:extLst>
          </p:cNvPr>
          <p:cNvSpPr txBox="1"/>
          <p:nvPr/>
        </p:nvSpPr>
        <p:spPr>
          <a:xfrm>
            <a:off x="838200" y="1690690"/>
            <a:ext cx="6266688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Dataset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 </a:t>
            </a:r>
            <a:r>
              <a:rPr lang="en-US" b="1" dirty="0"/>
              <a:t>200</a:t>
            </a:r>
            <a:r>
              <a:rPr lang="en-US" dirty="0"/>
              <a:t> complex SQL–Question pairs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Expanded to </a:t>
            </a:r>
            <a:r>
              <a:rPr lang="en-US" b="1" dirty="0"/>
              <a:t>2,000+</a:t>
            </a:r>
            <a:r>
              <a:rPr lang="en-US" dirty="0"/>
              <a:t> domain-specific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Fully tailored to BACS database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Included multi-table joins, logs, reporting, permissions</a:t>
            </a:r>
          </a:p>
          <a:p>
            <a:endParaRPr lang="en-US" sz="2000" dirty="0"/>
          </a:p>
          <a:p>
            <a:r>
              <a:rPr lang="en-US" sz="2400" b="1" dirty="0"/>
              <a:t>Fine-Tuning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LoRA</a:t>
            </a:r>
            <a:r>
              <a:rPr lang="en-US" dirty="0"/>
              <a:t>-based fine-tuning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Domain vocabulary adaptation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SQL rule enforcement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Query optimization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dataset development required several months and was the most critical phase of the project.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F65A42-6AC9-852F-C41C-F2F0BB222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718" y="1333956"/>
            <a:ext cx="3545460" cy="419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075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D30BC-19A7-0492-D9B4-D5208DA78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Processing Workflow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41BEF3-A12D-6456-6954-4A11EBA4A2B0}"/>
              </a:ext>
            </a:extLst>
          </p:cNvPr>
          <p:cNvSpPr txBox="1"/>
          <p:nvPr/>
        </p:nvSpPr>
        <p:spPr>
          <a:xfrm>
            <a:off x="838200" y="1997839"/>
            <a:ext cx="453598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The workflow of query processing is: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User submits natural language query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System validates domain relevance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SQL generated by LLM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SQL validated (syntax &amp; security)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Query executed on SQL Server (read-only)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Results analysed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Response generated OR Excel file exported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Response streamed in real time</a:t>
            </a:r>
          </a:p>
          <a:p>
            <a:r>
              <a:rPr lang="en-IN" dirty="0"/>
              <a:t>Average full processing time: </a:t>
            </a:r>
            <a:r>
              <a:rPr lang="en-IN" b="1" dirty="0"/>
              <a:t>30-40 seconds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549012-BAC3-8FDD-8C65-B400DC962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760" y="-73152"/>
            <a:ext cx="53492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557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DBED3-6694-1891-60CE-D7821F8EC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&amp; Constraints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46692A-ACE4-73F8-99BC-6C35E2DAF697}"/>
              </a:ext>
            </a:extLst>
          </p:cNvPr>
          <p:cNvSpPr txBox="1"/>
          <p:nvPr/>
        </p:nvSpPr>
        <p:spPr>
          <a:xfrm>
            <a:off x="838200" y="1690690"/>
            <a:ext cx="7217489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Performance Metrics</a:t>
            </a:r>
          </a:p>
          <a:p>
            <a:r>
              <a:rPr lang="en-IN" dirty="0"/>
              <a:t>SQL generation: 15-20 seconds</a:t>
            </a:r>
          </a:p>
          <a:p>
            <a:r>
              <a:rPr lang="en-IN" dirty="0"/>
              <a:t>Response generation: 15-20 seconds</a:t>
            </a:r>
          </a:p>
          <a:p>
            <a:r>
              <a:rPr lang="en-IN" dirty="0"/>
              <a:t>Database execution: &lt;5 seconds</a:t>
            </a:r>
          </a:p>
          <a:p>
            <a:r>
              <a:rPr lang="en-IN" dirty="0"/>
              <a:t>90% of queries completed within target thresholds</a:t>
            </a:r>
          </a:p>
          <a:p>
            <a:endParaRPr lang="en-IN" dirty="0"/>
          </a:p>
          <a:p>
            <a:r>
              <a:rPr lang="en-IN" sz="2400" b="1" dirty="0"/>
              <a:t>Hardware Constraints</a:t>
            </a:r>
          </a:p>
          <a:p>
            <a:r>
              <a:rPr lang="en-IN" dirty="0"/>
              <a:t>NVIDIA RTX 3060 (12 GB vRAM minimum)</a:t>
            </a:r>
          </a:p>
          <a:p>
            <a:r>
              <a:rPr lang="en-IN" dirty="0"/>
              <a:t>Sequential query processing (GPU memory limitation)</a:t>
            </a:r>
          </a:p>
          <a:p>
            <a:r>
              <a:rPr lang="en-IN" dirty="0"/>
              <a:t>Models consume full GPU memory when loaded</a:t>
            </a:r>
          </a:p>
          <a:p>
            <a:r>
              <a:rPr lang="en-IN" dirty="0"/>
              <a:t>The system supports multiple sessions but processes queries one at a time.</a:t>
            </a:r>
          </a:p>
        </p:txBody>
      </p:sp>
    </p:spTree>
    <p:extLst>
      <p:ext uri="{BB962C8B-B14F-4D97-AF65-F5344CB8AC3E}">
        <p14:creationId xmlns:p14="http://schemas.microsoft.com/office/powerpoint/2010/main" val="3880063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76957-D97A-E20D-EEB5-ECCD2AF63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&amp; Control Mechanisms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1129DE-0C93-5533-7093-AE1910288719}"/>
              </a:ext>
            </a:extLst>
          </p:cNvPr>
          <p:cNvSpPr txBox="1"/>
          <p:nvPr/>
        </p:nvSpPr>
        <p:spPr>
          <a:xfrm>
            <a:off x="838200" y="2136339"/>
            <a:ext cx="625703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system was designed with strong security controls: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Internal network only (no internet access)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authentication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Strict domain relevance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SQL injection prevention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Read-only SELECT queries enforced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 query logging with timestamps and user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Encrypted database credentials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INSERT, UPDATE, DELETE, or schema modification allowed.</a:t>
            </a:r>
          </a:p>
        </p:txBody>
      </p:sp>
    </p:spTree>
    <p:extLst>
      <p:ext uri="{BB962C8B-B14F-4D97-AF65-F5344CB8AC3E}">
        <p14:creationId xmlns:p14="http://schemas.microsoft.com/office/powerpoint/2010/main" val="3877693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A9D15-7F7C-0B45-1B05-81AE00DEC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D2D88A-DFF7-6030-C361-31134A948B1F}"/>
              </a:ext>
            </a:extLst>
          </p:cNvPr>
          <p:cNvSpPr txBox="1"/>
          <p:nvPr/>
        </p:nvSpPr>
        <p:spPr>
          <a:xfrm>
            <a:off x="838201" y="2274838"/>
            <a:ext cx="10515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BACSWQP successfully delivers: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AI-powered natural language database querying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Secure and validated SQL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Custom-trained domain-specific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Optimized deployment within hardware constraints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Reliable, internal enterprise-grade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acts as a secure intelligent bridge between users and the BACS database, combining AI capability with enterprise-level control.</a:t>
            </a:r>
          </a:p>
        </p:txBody>
      </p:sp>
    </p:spTree>
    <p:extLst>
      <p:ext uri="{BB962C8B-B14F-4D97-AF65-F5344CB8AC3E}">
        <p14:creationId xmlns:p14="http://schemas.microsoft.com/office/powerpoint/2010/main" val="1310750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219</TotalTime>
  <Words>608</Words>
  <Application>Microsoft Office PowerPoint</Application>
  <PresentationFormat>Widescreen</PresentationFormat>
  <Paragraphs>112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Sans Serif Collection</vt:lpstr>
      <vt:lpstr>Office Theme</vt:lpstr>
      <vt:lpstr>BACS Web Query Processor</vt:lpstr>
      <vt:lpstr>BACSWQP – Project Overview</vt:lpstr>
      <vt:lpstr>Problem &amp; Solution</vt:lpstr>
      <vt:lpstr>System Architecture &amp; Technology</vt:lpstr>
      <vt:lpstr>AI Model Strategy &amp; Optimization</vt:lpstr>
      <vt:lpstr>Custom Dataset &amp; Training Effort</vt:lpstr>
      <vt:lpstr>Processing Workflow</vt:lpstr>
      <vt:lpstr>Performance &amp; Constraints</vt:lpstr>
      <vt:lpstr>Security &amp; Control Mechanisms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sarangdeshpande.ssd@gmail.com</dc:creator>
  <cp:lastModifiedBy>sarangdeshpande.ssd@gmail.com</cp:lastModifiedBy>
  <cp:revision>85</cp:revision>
  <dcterms:created xsi:type="dcterms:W3CDTF">2026-02-16T16:01:49Z</dcterms:created>
  <dcterms:modified xsi:type="dcterms:W3CDTF">2026-02-16T19:40:54Z</dcterms:modified>
</cp:coreProperties>
</file>